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"/>
  <Override PartName="/ppt/media/image13.svg" ContentType="image/svg"/>
  <Override PartName="/ppt/media/image15.svg" ContentType="image/svg"/>
  <Override PartName="/ppt/media/image17.svg" ContentType="image/svg"/>
  <Override PartName="/ppt/media/image19.svg" ContentType="image/svg"/>
  <Override PartName="/ppt/media/image21.svg" ContentType="image/svg"/>
  <Override PartName="/ppt/media/image24.svg" ContentType="image/svg"/>
  <Override PartName="/ppt/media/image27.svg" ContentType="image/svg"/>
  <Override PartName="/ppt/media/image30.svg" ContentType="image/svg"/>
  <Override PartName="/ppt/media/image33.svg" ContentType="image/svg"/>
  <Override PartName="/ppt/media/image38.svg" ContentType="image/svg"/>
  <Override PartName="/ppt/media/image7.svg" ContentType="image/svg"/>
  <Override PartName="/ppt/media/image9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6" r:id="rId25"/>
    <p:sldId id="264" r:id="rId22"/>
    <p:sldId id="267" r:id="rId26"/>
    <p:sldId id="265" r:id="rId23"/>
    <p:sldId id="268" r:id="rId2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10.xml"/><Relationship Id="rId23" Type="http://schemas.openxmlformats.org/officeDocument/2006/relationships/slide" Target="slides/slide12.xml"/><Relationship Id="rId24" Type="http://schemas.openxmlformats.org/officeDocument/2006/relationships/presProps" Target="presProps.xml"/><Relationship Id="rId25" Type="http://schemas.openxmlformats.org/officeDocument/2006/relationships/slide" Target="slides/slide9.xml"/><Relationship Id="rId26" Type="http://schemas.openxmlformats.org/officeDocument/2006/relationships/slide" Target="slides/slide11.xml"/><Relationship Id="rId27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move the slide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AD65036-B3B4-49BB-82BF-B068FD9051F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E59863-892B-492C-A20D-47C48079510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9186799-2AF9-4886-8F79-EFF78838D9B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F90EC07-5730-402A-A934-6BEF9E7AD89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7EF49DB-ABFE-4855-BA4B-8981632CD66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CEF5C26-C9C4-4606-82D7-251216065CD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E289E3A-CE77-47E6-8500-F0B0DC8D164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5C4A855-299D-4332-932B-86364E410A3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489F6D-5B3F-4FB3-88FD-1C02A18DD7B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54B213B-E011-4153-A4A3-E62FAC89002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3EC52BA-6C0D-473B-B9A9-86E0CCC86CC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edit the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2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2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3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3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5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4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4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5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png"/><Relationship Id="rId7" Type="http://schemas.openxmlformats.org/officeDocument/2006/relationships/image" Target="../media/image9.sv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svg"/><Relationship Id="rId3" Type="http://schemas.openxmlformats.org/officeDocument/2006/relationships/image" Target="../media/image12.png"/><Relationship Id="rId4" Type="http://schemas.openxmlformats.org/officeDocument/2006/relationships/image" Target="../media/image13.svg"/><Relationship Id="rId5" Type="http://schemas.openxmlformats.org/officeDocument/2006/relationships/image" Target="../media/image14.png"/><Relationship Id="rId6" Type="http://schemas.openxmlformats.org/officeDocument/2006/relationships/image" Target="../media/image15.svg"/><Relationship Id="rId7" Type="http://schemas.openxmlformats.org/officeDocument/2006/relationships/image" Target="../media/image16.png"/><Relationship Id="rId8" Type="http://schemas.openxmlformats.org/officeDocument/2006/relationships/image" Target="../media/image17.svg"/><Relationship Id="rId9" Type="http://schemas.openxmlformats.org/officeDocument/2006/relationships/image" Target="../media/image18.png"/><Relationship Id="rId10" Type="http://schemas.openxmlformats.org/officeDocument/2006/relationships/image" Target="../media/image19.svg"/><Relationship Id="rId11" Type="http://schemas.openxmlformats.org/officeDocument/2006/relationships/image" Target="../media/image20.png"/><Relationship Id="rId12" Type="http://schemas.openxmlformats.org/officeDocument/2006/relationships/image" Target="../media/image21.svg"/><Relationship Id="rId13" Type="http://schemas.openxmlformats.org/officeDocument/2006/relationships/slideLayout" Target="../slideLayouts/slideLayout7.xml"/><Relationship Id="rId1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sv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sv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svg"/><Relationship Id="rId13" Type="http://schemas.openxmlformats.org/officeDocument/2006/relationships/image" Target="../media/image34.png"/><Relationship Id="rId14" Type="http://schemas.openxmlformats.org/officeDocument/2006/relationships/slideLayout" Target="../slideLayouts/slideLayout8.xml"/><Relationship Id="rId1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12.png"/><Relationship Id="rId5" Type="http://schemas.openxmlformats.org/officeDocument/2006/relationships/image" Target="../media/image13.svg"/><Relationship Id="rId6" Type="http://schemas.openxmlformats.org/officeDocument/2006/relationships/image" Target="../media/image14.png"/><Relationship Id="rId7" Type="http://schemas.openxmlformats.org/officeDocument/2006/relationships/image" Target="../media/image15.svg"/><Relationship Id="rId8" Type="http://schemas.openxmlformats.org/officeDocument/2006/relationships/image" Target="../media/image16.png"/><Relationship Id="rId9" Type="http://schemas.openxmlformats.org/officeDocument/2006/relationships/image" Target="../media/image17.svg"/><Relationship Id="rId10" Type="http://schemas.openxmlformats.org/officeDocument/2006/relationships/image" Target="../media/image18.png"/><Relationship Id="rId11" Type="http://schemas.openxmlformats.org/officeDocument/2006/relationships/image" Target="../media/image19.svg"/><Relationship Id="rId12" Type="http://schemas.openxmlformats.org/officeDocument/2006/relationships/image" Target="../media/image20.png"/><Relationship Id="rId13" Type="http://schemas.openxmlformats.org/officeDocument/2006/relationships/image" Target="../media/image21.svg"/><Relationship Id="rId14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svg"/><Relationship Id="rId3" Type="http://schemas.openxmlformats.org/officeDocument/2006/relationships/image" Target="../media/image37.png"/><Relationship Id="rId4" Type="http://schemas.openxmlformats.org/officeDocument/2006/relationships/image" Target="../media/image38.svg"/><Relationship Id="rId5" Type="http://schemas.openxmlformats.org/officeDocument/2006/relationships/image" Target="../media/image37.png"/><Relationship Id="rId6" Type="http://schemas.openxmlformats.org/officeDocument/2006/relationships/image" Target="../media/image38.svg"/><Relationship Id="rId7" Type="http://schemas.openxmlformats.org/officeDocument/2006/relationships/image" Target="../media/image37.png"/><Relationship Id="rId8" Type="http://schemas.openxmlformats.org/officeDocument/2006/relationships/image" Target="../media/image38.svg"/><Relationship Id="rId9" Type="http://schemas.openxmlformats.org/officeDocument/2006/relationships/image" Target="../media/image37.png"/><Relationship Id="rId10" Type="http://schemas.openxmlformats.org/officeDocument/2006/relationships/image" Target="../media/image3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 0" descr="preencoded.png"/>
          <p:cNvPicPr/>
          <p:nvPr/>
        </p:nvPicPr>
        <p:blipFill>
          <a:blip r:embed="rId1"/>
          <a:stretch/>
        </p:blipFill>
        <p:spPr>
          <a:xfrm>
            <a:off x="7391160" y="0"/>
            <a:ext cx="4800240" cy="6857640"/>
          </a:xfrm>
          <a:prstGeom prst="rect">
            <a:avLst/>
          </a:prstGeom>
          <a:ln w="0">
            <a:noFill/>
          </a:ln>
        </p:spPr>
      </p:pic>
      <p:sp>
        <p:nvSpPr>
          <p:cNvPr id="57" name="Text 0"/>
          <p:cNvSpPr/>
          <p:nvPr/>
        </p:nvSpPr>
        <p:spPr>
          <a:xfrm>
            <a:off x="631800" y="1608120"/>
            <a:ext cx="53604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3700" spc="-1" strike="noStrike">
                <a:solidFill>
                  <a:srgbClr val="2e3c4e"/>
                </a:solidFill>
                <a:latin typeface="Barlow Bold"/>
                <a:ea typeface="Barlow Bold"/>
              </a:rPr>
              <a:t>Valoryx</a:t>
            </a:r>
            <a:endParaRPr b="0" lang="en-US" sz="3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631800" y="2472840"/>
            <a:ext cx="6355800" cy="163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3333"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5150" spc="-1" strike="noStrike">
                <a:solidFill>
                  <a:srgbClr val="2e3c4e"/>
                </a:solidFill>
                <a:latin typeface="Barlow Bold"/>
                <a:ea typeface="Barlow Bold"/>
              </a:rPr>
              <a:t>One App. Entire Shop. Online or Offline.</a:t>
            </a:r>
            <a:endParaRPr b="0" lang="en-US" sz="5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631800" y="4383000"/>
            <a:ext cx="635580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A complete POS &amp; business suite for retail shops, supermarkets, and multi-outlet chains — works online or offline with automatic cloud sync. Billing, stock, transfers, suppliers, staff, and reports, all in one place.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4800240" cy="6857640"/>
          </a:xfrm>
          <a:prstGeom prst="rect">
            <a:avLst/>
          </a:prstGeom>
          <a:ln w="0">
            <a:noFill/>
          </a:ln>
        </p:spPr>
      </p:pic>
      <p:sp>
        <p:nvSpPr>
          <p:cNvPr id="61" name="Text 0"/>
          <p:cNvSpPr/>
          <p:nvPr/>
        </p:nvSpPr>
        <p:spPr>
          <a:xfrm>
            <a:off x="5203800" y="674640"/>
            <a:ext cx="683604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3150" spc="-1" strike="noStrike">
                <a:solidFill>
                  <a:srgbClr val="2e3c4e"/>
                </a:solidFill>
                <a:latin typeface="Barlow Bold"/>
                <a:ea typeface="Barlow Bold"/>
              </a:rPr>
              <a:t>The Problem Shops Face Every Day</a:t>
            </a:r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5203800" y="1375200"/>
            <a:ext cx="6355800" cy="1103760"/>
          </a:xfrm>
          <a:prstGeom prst="roundRect">
            <a:avLst>
              <a:gd name="adj" fmla="val 20847"/>
            </a:avLst>
          </a:prstGeom>
          <a:solidFill>
            <a:srgbClr val="d4e9f7"/>
          </a:solidFill>
          <a:ln w="6350">
            <a:solidFill>
              <a:srgbClr val="bac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5363640" y="1535040"/>
            <a:ext cx="241560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384653"/>
                </a:solidFill>
                <a:latin typeface="Barlow Bold"/>
                <a:ea typeface="Barlow Bold"/>
              </a:rPr>
              <a:t>Internet Drops = Sales Stop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5363640" y="1865520"/>
            <a:ext cx="603612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3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4653"/>
                </a:solidFill>
                <a:latin typeface="Montserrat"/>
                <a:ea typeface="Montserrat"/>
              </a:rPr>
              <a:t>Most billing apps go silent when the connection drops — and the counter stops with them.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5203800" y="2609640"/>
            <a:ext cx="6355800" cy="1103760"/>
          </a:xfrm>
          <a:prstGeom prst="roundRect">
            <a:avLst>
              <a:gd name="adj" fmla="val 20847"/>
            </a:avLst>
          </a:prstGeom>
          <a:solidFill>
            <a:srgbClr val="d4e9f7"/>
          </a:solidFill>
          <a:ln w="6350">
            <a:solidFill>
              <a:srgbClr val="bac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5363640" y="2769480"/>
            <a:ext cx="201888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384653"/>
                </a:solidFill>
                <a:latin typeface="Barlow Bold"/>
                <a:ea typeface="Barlow Bold"/>
              </a:rPr>
              <a:t>Too Many Tools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5363640" y="3099960"/>
            <a:ext cx="603612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3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4653"/>
                </a:solidFill>
                <a:latin typeface="Montserrat"/>
                <a:ea typeface="Montserrat"/>
              </a:rPr>
              <a:t>Shop owners juggle paper, Excel, and 3–4 different apps for billing, stock, suppliers, and payroll.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5203800" y="3844440"/>
            <a:ext cx="6355800" cy="1103760"/>
          </a:xfrm>
          <a:prstGeom prst="roundRect">
            <a:avLst>
              <a:gd name="adj" fmla="val 20847"/>
            </a:avLst>
          </a:prstGeom>
          <a:solidFill>
            <a:srgbClr val="d4e9f7"/>
          </a:solidFill>
          <a:ln w="6350">
            <a:solidFill>
              <a:srgbClr val="bac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5363640" y="4003920"/>
            <a:ext cx="216000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384653"/>
                </a:solidFill>
                <a:latin typeface="Barlow Bold"/>
                <a:ea typeface="Barlow Bold"/>
              </a:rPr>
              <a:t>Untrustworthy Numbers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5363640" y="4334400"/>
            <a:ext cx="603612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3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4653"/>
                </a:solidFill>
                <a:latin typeface="Montserrat"/>
                <a:ea typeface="Montserrat"/>
              </a:rPr>
              <a:t>Returns, pending payments, and expenses live outside the system — month-end figures are always a guess.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10"/>
          <p:cNvSpPr/>
          <p:nvPr/>
        </p:nvSpPr>
        <p:spPr>
          <a:xfrm>
            <a:off x="5203800" y="5078880"/>
            <a:ext cx="6355800" cy="1103760"/>
          </a:xfrm>
          <a:prstGeom prst="roundRect">
            <a:avLst>
              <a:gd name="adj" fmla="val 20847"/>
            </a:avLst>
          </a:prstGeom>
          <a:solidFill>
            <a:srgbClr val="d4e9f7"/>
          </a:solidFill>
          <a:ln w="6350">
            <a:solidFill>
              <a:srgbClr val="bac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5363640" y="5238720"/>
            <a:ext cx="201888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384653"/>
                </a:solidFill>
                <a:latin typeface="Barlow Bold"/>
                <a:ea typeface="Barlow Bold"/>
              </a:rPr>
              <a:t>Wrong Fit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5363640" y="5569200"/>
            <a:ext cx="603612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3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84653"/>
                </a:solidFill>
                <a:latin typeface="Montserrat"/>
                <a:ea typeface="Montserrat"/>
              </a:rPr>
              <a:t>Cheap mobile apps are slow on a real counter; full ERPs are heavy, expensive, and hard to learn.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0896840" y="6339600"/>
            <a:ext cx="121896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631800" y="507960"/>
            <a:ext cx="53604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3700" spc="-1" strike="noStrike">
                <a:solidFill>
                  <a:srgbClr val="2e3c4e"/>
                </a:solidFill>
                <a:latin typeface="Barlow Bold"/>
                <a:ea typeface="Barlow Bold"/>
              </a:rPr>
              <a:t>Introducing Valoryx</a:t>
            </a:r>
            <a:endParaRPr b="0" lang="en-US" sz="3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631800" y="1462680"/>
            <a:ext cx="1153728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A single, offline-first platform that runs your entire shop end-to-end — without ever opening Excel.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" name="Image 0" descr="preencoded.png"/>
          <p:cNvPicPr/>
          <p:nvPr/>
        </p:nvPicPr>
        <p:blipFill>
          <a:blip r:embed="rId1"/>
          <a:stretch/>
        </p:blipFill>
        <p:spPr>
          <a:xfrm>
            <a:off x="631800" y="2383200"/>
            <a:ext cx="3538080" cy="3538080"/>
          </a:xfrm>
          <a:prstGeom prst="rect">
            <a:avLst/>
          </a:prstGeom>
          <a:ln w="0">
            <a:noFill/>
          </a:ln>
        </p:spPr>
      </p:pic>
      <p:pic>
        <p:nvPicPr>
          <p:cNvPr id="78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91800" y="2157840"/>
            <a:ext cx="3409200" cy="1755360"/>
          </a:xfrm>
          <a:prstGeom prst="rect">
            <a:avLst/>
          </a:prstGeom>
          <a:ln w="0">
            <a:noFill/>
          </a:ln>
        </p:spPr>
      </p:pic>
      <p:sp>
        <p:nvSpPr>
          <p:cNvPr id="79" name="Text 2"/>
          <p:cNvSpPr/>
          <p:nvPr/>
        </p:nvSpPr>
        <p:spPr>
          <a:xfrm>
            <a:off x="4899240" y="2363760"/>
            <a:ext cx="237528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384653"/>
                </a:solidFill>
                <a:latin typeface="Barlow Bold"/>
                <a:ea typeface="Barlow Bold"/>
              </a:rPr>
              <a:t>Works Online or Offline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4899240" y="2841120"/>
            <a:ext cx="289584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Run on the cloud or fully offline — bills save instantly and sync automatically both ways, with no data loss.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1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156520" y="2157840"/>
            <a:ext cx="3409200" cy="1755360"/>
          </a:xfrm>
          <a:prstGeom prst="rect">
            <a:avLst/>
          </a:prstGeom>
          <a:ln w="0">
            <a:noFill/>
          </a:ln>
        </p:spPr>
      </p:pic>
      <p:sp>
        <p:nvSpPr>
          <p:cNvPr id="82" name="Text 4"/>
          <p:cNvSpPr/>
          <p:nvPr/>
        </p:nvSpPr>
        <p:spPr>
          <a:xfrm>
            <a:off x="8463960" y="2363760"/>
            <a:ext cx="270216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384653"/>
                </a:solidFill>
                <a:latin typeface="Barlow Bold"/>
                <a:ea typeface="Barlow Bold"/>
              </a:rPr>
              <a:t>Every Device, One System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8463960" y="2841120"/>
            <a:ext cx="289584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Desktop (Windows/Linux), web, tablet, and mobile — same data everywhere.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4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4591800" y="4094280"/>
            <a:ext cx="3409200" cy="2052360"/>
          </a:xfrm>
          <a:prstGeom prst="rect">
            <a:avLst/>
          </a:prstGeom>
          <a:ln w="0">
            <a:noFill/>
          </a:ln>
        </p:spPr>
      </p:pic>
      <p:sp>
        <p:nvSpPr>
          <p:cNvPr id="85" name="Text 6"/>
          <p:cNvSpPr/>
          <p:nvPr/>
        </p:nvSpPr>
        <p:spPr>
          <a:xfrm>
            <a:off x="4899240" y="4300200"/>
            <a:ext cx="237528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384653"/>
                </a:solidFill>
                <a:latin typeface="Barlow Bold"/>
                <a:ea typeface="Barlow Bold"/>
              </a:rPr>
              <a:t>Secure by Design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4899240" y="4777560"/>
            <a:ext cx="289584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Multi-tenant architecture with fully isolated shop data and role-based access.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7" name="Image 4" descr="preencoded.png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156520" y="4094280"/>
            <a:ext cx="3409200" cy="2052360"/>
          </a:xfrm>
          <a:prstGeom prst="rect">
            <a:avLst/>
          </a:prstGeom>
          <a:ln w="0">
            <a:noFill/>
          </a:ln>
        </p:spPr>
      </p:pic>
      <p:sp>
        <p:nvSpPr>
          <p:cNvPr id="88" name="Text 8"/>
          <p:cNvSpPr/>
          <p:nvPr/>
        </p:nvSpPr>
        <p:spPr>
          <a:xfrm>
            <a:off x="8463960" y="4300200"/>
            <a:ext cx="28958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384653"/>
                </a:solidFill>
                <a:latin typeface="Barlow Bold"/>
                <a:ea typeface="Barlow Bold"/>
              </a:rPr>
              <a:t>ERP-Grade, Shopkeeper-Friendly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8463960" y="5074200"/>
            <a:ext cx="289584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Powerful workflows without the complexity, cost, or learning curve of a traditional ERP.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0896840" y="6339600"/>
            <a:ext cx="121896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622080" y="532800"/>
            <a:ext cx="6168240" cy="55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3450" spc="-1" strike="noStrike">
                <a:solidFill>
                  <a:srgbClr val="2e3c4e"/>
                </a:solidFill>
                <a:latin typeface="Barlow Bold"/>
                <a:ea typeface="Barlow Bold"/>
              </a:rPr>
              <a:t>Everything Your Shop Needs</a:t>
            </a:r>
            <a:endParaRPr b="0" lang="en-US" sz="34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2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22080" y="1404000"/>
            <a:ext cx="337320" cy="337320"/>
          </a:xfrm>
          <a:prstGeom prst="rect">
            <a:avLst/>
          </a:prstGeom>
          <a:ln w="0">
            <a:noFill/>
          </a:ln>
        </p:spPr>
      </p:pic>
      <p:sp>
        <p:nvSpPr>
          <p:cNvPr id="93" name="Text 1"/>
          <p:cNvSpPr/>
          <p:nvPr/>
        </p:nvSpPr>
        <p:spPr>
          <a:xfrm>
            <a:off x="622080" y="1938960"/>
            <a:ext cx="222120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384653"/>
                </a:solidFill>
                <a:latin typeface="Barlow Bold"/>
                <a:ea typeface="Barlow Bold"/>
              </a:rPr>
              <a:t>Billing &amp; POS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622080" y="2311200"/>
            <a:ext cx="5374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4653"/>
                </a:solidFill>
                <a:latin typeface="Montserrat"/>
                <a:ea typeface="Montserrat"/>
              </a:rPr>
              <a:t>GST &amp; non-GST invoices, thermal printing, UPI QR with pre-filled amount, barcode scanning.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194520" y="1404000"/>
            <a:ext cx="337320" cy="337320"/>
          </a:xfrm>
          <a:prstGeom prst="rect">
            <a:avLst/>
          </a:prstGeom>
          <a:ln w="0">
            <a:noFill/>
          </a:ln>
        </p:spPr>
      </p:pic>
      <p:sp>
        <p:nvSpPr>
          <p:cNvPr id="96" name="Text 3"/>
          <p:cNvSpPr/>
          <p:nvPr/>
        </p:nvSpPr>
        <p:spPr>
          <a:xfrm>
            <a:off x="6194520" y="1938960"/>
            <a:ext cx="222120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384653"/>
                </a:solidFill>
                <a:latin typeface="Barlow Bold"/>
                <a:ea typeface="Barlow Bold"/>
              </a:rPr>
              <a:t>Pending Bills &amp; Khata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6194520" y="2311200"/>
            <a:ext cx="5374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4653"/>
                </a:solidFill>
                <a:latin typeface="Montserrat"/>
                <a:ea typeface="Montserrat"/>
              </a:rPr>
              <a:t>Invoice now, collect later. Partial payments and per-customer credit tracking.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8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22080" y="3149640"/>
            <a:ext cx="337320" cy="337320"/>
          </a:xfrm>
          <a:prstGeom prst="rect">
            <a:avLst/>
          </a:prstGeom>
          <a:ln w="0">
            <a:noFill/>
          </a:ln>
        </p:spPr>
      </p:pic>
      <p:sp>
        <p:nvSpPr>
          <p:cNvPr id="99" name="Text 5"/>
          <p:cNvSpPr/>
          <p:nvPr/>
        </p:nvSpPr>
        <p:spPr>
          <a:xfrm>
            <a:off x="622080" y="3684600"/>
            <a:ext cx="222120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384653"/>
                </a:solidFill>
                <a:latin typeface="Barlow Bold"/>
                <a:ea typeface="Barlow Bold"/>
              </a:rPr>
              <a:t>Inventory, Stock &amp; Transfers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622080" y="4056840"/>
            <a:ext cx="5374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4653"/>
                </a:solidFill>
                <a:latin typeface="Montserrat"/>
                <a:ea typeface="Montserrat"/>
              </a:rPr>
              <a:t>Branch-aware stock, branch-to-branch transfers with in-transit tracking, and barcode label printing.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1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194520" y="3149640"/>
            <a:ext cx="337320" cy="337320"/>
          </a:xfrm>
          <a:prstGeom prst="rect">
            <a:avLst/>
          </a:prstGeom>
          <a:ln w="0">
            <a:noFill/>
          </a:ln>
        </p:spPr>
      </p:pic>
      <p:sp>
        <p:nvSpPr>
          <p:cNvPr id="102" name="Text 7"/>
          <p:cNvSpPr/>
          <p:nvPr/>
        </p:nvSpPr>
        <p:spPr>
          <a:xfrm>
            <a:off x="6194520" y="3684600"/>
            <a:ext cx="222120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384653"/>
                </a:solidFill>
                <a:latin typeface="Barlow Bold"/>
                <a:ea typeface="Barlow Bold"/>
              </a:rPr>
              <a:t>Suppliers &amp; Purchases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6194520" y="4056840"/>
            <a:ext cx="5374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4653"/>
                </a:solidFill>
                <a:latin typeface="Montserrat"/>
                <a:ea typeface="Montserrat"/>
              </a:rPr>
              <a:t>Supplier master, delivery notes, auto-numbered purchase orders, one-click stock receipt.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4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622080" y="4895280"/>
            <a:ext cx="337320" cy="337320"/>
          </a:xfrm>
          <a:prstGeom prst="rect">
            <a:avLst/>
          </a:prstGeom>
          <a:ln w="0">
            <a:noFill/>
          </a:ln>
        </p:spPr>
      </p:pic>
      <p:sp>
        <p:nvSpPr>
          <p:cNvPr id="105" name="Text 9"/>
          <p:cNvSpPr/>
          <p:nvPr/>
        </p:nvSpPr>
        <p:spPr>
          <a:xfrm>
            <a:off x="622080" y="5430240"/>
            <a:ext cx="222120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384653"/>
                </a:solidFill>
                <a:latin typeface="Barlow Bold"/>
                <a:ea typeface="Barlow Bold"/>
              </a:rPr>
              <a:t>Customers &amp; Payroll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0"/>
          <p:cNvSpPr/>
          <p:nvPr/>
        </p:nvSpPr>
        <p:spPr>
          <a:xfrm>
            <a:off x="622080" y="5802480"/>
            <a:ext cx="5374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4653"/>
                </a:solidFill>
                <a:latin typeface="Montserrat"/>
                <a:ea typeface="Montserrat"/>
              </a:rPr>
              <a:t>Customer master with loyalty, employee attendance, advances, and payroll with trend charts.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7" name="Image 5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6194520" y="4895280"/>
            <a:ext cx="337320" cy="337320"/>
          </a:xfrm>
          <a:prstGeom prst="rect">
            <a:avLst/>
          </a:prstGeom>
          <a:ln w="0">
            <a:noFill/>
          </a:ln>
        </p:spPr>
      </p:pic>
      <p:sp>
        <p:nvSpPr>
          <p:cNvPr id="108" name="Text 11"/>
          <p:cNvSpPr/>
          <p:nvPr/>
        </p:nvSpPr>
        <p:spPr>
          <a:xfrm>
            <a:off x="6194520" y="5430240"/>
            <a:ext cx="222120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384653"/>
                </a:solidFill>
                <a:latin typeface="Barlow Bold"/>
                <a:ea typeface="Barlow Bold"/>
              </a:rPr>
              <a:t>Reports &amp; Dashboard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6194520" y="5802480"/>
            <a:ext cx="5374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4653"/>
                </a:solidFill>
                <a:latin typeface="Montserrat"/>
                <a:ea typeface="Montserrat"/>
              </a:rPr>
              <a:t>Real-time sales, profit margins, top products, and peak-hours analytics.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10896840" y="6339600"/>
            <a:ext cx="121896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631800" y="689040"/>
            <a:ext cx="7605360" cy="53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3350" spc="-1" strike="noStrike">
                <a:solidFill>
                  <a:srgbClr val="2e3c4e"/>
                </a:solidFill>
                <a:latin typeface="Barlow Bold"/>
                <a:ea typeface="Barlow Bold"/>
              </a:rPr>
              <a:t>Built for Trust — Security &amp; Reliability</a:t>
            </a:r>
            <a:endParaRPr b="0" lang="en-US" sz="3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"/>
          <p:cNvSpPr/>
          <p:nvPr/>
        </p:nvSpPr>
        <p:spPr>
          <a:xfrm>
            <a:off x="631800" y="1607400"/>
            <a:ext cx="2223720" cy="2619000"/>
          </a:xfrm>
          <a:prstGeom prst="roundRect">
            <a:avLst>
              <a:gd name="adj" fmla="val 10960"/>
            </a:avLst>
          </a:prstGeom>
          <a:solidFill>
            <a:srgbClr val="d4e9f7"/>
          </a:solidFill>
          <a:ln w="6350">
            <a:solidFill>
              <a:srgbClr val="bac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Image 0" descr="preencoded.png"/>
          <p:cNvPicPr/>
          <p:nvPr/>
        </p:nvPicPr>
        <p:blipFill>
          <a:blip r:embed="rId1"/>
          <a:stretch/>
        </p:blipFill>
        <p:spPr>
          <a:xfrm>
            <a:off x="800640" y="1776240"/>
            <a:ext cx="487080" cy="487080"/>
          </a:xfrm>
          <a:prstGeom prst="rect">
            <a:avLst/>
          </a:prstGeom>
          <a:ln w="0">
            <a:noFill/>
          </a:ln>
        </p:spPr>
      </p:pic>
      <p:pic>
        <p:nvPicPr>
          <p:cNvPr id="114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34560" y="1910160"/>
            <a:ext cx="218880" cy="218880"/>
          </a:xfrm>
          <a:prstGeom prst="rect">
            <a:avLst/>
          </a:prstGeom>
          <a:ln w="0">
            <a:noFill/>
          </a:ln>
        </p:spPr>
      </p:pic>
      <p:sp>
        <p:nvSpPr>
          <p:cNvPr id="115" name="Text 2"/>
          <p:cNvSpPr/>
          <p:nvPr/>
        </p:nvSpPr>
        <p:spPr>
          <a:xfrm>
            <a:off x="800640" y="2409840"/>
            <a:ext cx="188604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384653"/>
                </a:solidFill>
                <a:latin typeface="Barlow Bold"/>
                <a:ea typeface="Barlow Bold"/>
              </a:rPr>
              <a:t>Always Available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800640" y="2823120"/>
            <a:ext cx="1886040" cy="12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84653"/>
                </a:solidFill>
                <a:latin typeface="Montserrat"/>
                <a:ea typeface="Montserrat"/>
              </a:rPr>
              <a:t>Run online or fully offline — the counter keeps billing during outages and syncs automatically when the connection returns.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4"/>
          <p:cNvSpPr/>
          <p:nvPr/>
        </p:nvSpPr>
        <p:spPr>
          <a:xfrm>
            <a:off x="3002040" y="1607400"/>
            <a:ext cx="2223720" cy="2619000"/>
          </a:xfrm>
          <a:prstGeom prst="roundRect">
            <a:avLst>
              <a:gd name="adj" fmla="val 10959"/>
            </a:avLst>
          </a:prstGeom>
          <a:solidFill>
            <a:srgbClr val="d4e9f7"/>
          </a:solidFill>
          <a:ln w="6350">
            <a:solidFill>
              <a:srgbClr val="bac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Image 2" descr="preencoded.png"/>
          <p:cNvPicPr/>
          <p:nvPr/>
        </p:nvPicPr>
        <p:blipFill>
          <a:blip r:embed="rId4"/>
          <a:stretch/>
        </p:blipFill>
        <p:spPr>
          <a:xfrm>
            <a:off x="3170880" y="1776240"/>
            <a:ext cx="487080" cy="487080"/>
          </a:xfrm>
          <a:prstGeom prst="rect">
            <a:avLst/>
          </a:prstGeom>
          <a:ln w="0">
            <a:noFill/>
          </a:ln>
        </p:spPr>
      </p:pic>
      <p:pic>
        <p:nvPicPr>
          <p:cNvPr id="119" name="Image 3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3304800" y="1910160"/>
            <a:ext cx="218880" cy="218880"/>
          </a:xfrm>
          <a:prstGeom prst="rect">
            <a:avLst/>
          </a:prstGeom>
          <a:ln w="0">
            <a:noFill/>
          </a:ln>
        </p:spPr>
      </p:pic>
      <p:sp>
        <p:nvSpPr>
          <p:cNvPr id="120" name="Text 5"/>
          <p:cNvSpPr/>
          <p:nvPr/>
        </p:nvSpPr>
        <p:spPr>
          <a:xfrm>
            <a:off x="3170880" y="2409840"/>
            <a:ext cx="188604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384653"/>
                </a:solidFill>
                <a:latin typeface="Barlow Bold"/>
                <a:ea typeface="Barlow Bold"/>
              </a:rPr>
              <a:t>Blazing Fast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3170880" y="2823120"/>
            <a:ext cx="1886040" cy="9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84653"/>
                </a:solidFill>
                <a:latin typeface="Montserrat"/>
                <a:ea typeface="Montserrat"/>
              </a:rPr>
              <a:t>Routes respond in </a:t>
            </a:r>
            <a:r>
              <a:rPr b="1" lang="en-US" sz="1250" spc="-1" strike="noStrike">
                <a:solidFill>
                  <a:srgbClr val="384653"/>
                </a:solidFill>
                <a:latin typeface="Montserrat"/>
                <a:ea typeface="Montserrat"/>
              </a:rPr>
              <a:t>1–20 ms</a:t>
            </a:r>
            <a:r>
              <a:rPr b="0" lang="en-US" sz="1250" spc="-1" strike="noStrike">
                <a:solidFill>
                  <a:srgbClr val="384653"/>
                </a:solidFill>
                <a:latin typeface="Montserrat"/>
                <a:ea typeface="Montserrat"/>
              </a:rPr>
              <a:t> vs. 3–9 seconds on always-online competitors.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5372280" y="1607400"/>
            <a:ext cx="2223720" cy="2619000"/>
          </a:xfrm>
          <a:prstGeom prst="roundRect">
            <a:avLst>
              <a:gd name="adj" fmla="val 10960"/>
            </a:avLst>
          </a:prstGeom>
          <a:solidFill>
            <a:srgbClr val="d4e9f7"/>
          </a:solidFill>
          <a:ln w="6350">
            <a:solidFill>
              <a:srgbClr val="bac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Image 4" descr="preencoded.png"/>
          <p:cNvPicPr/>
          <p:nvPr/>
        </p:nvPicPr>
        <p:blipFill>
          <a:blip r:embed="rId7"/>
          <a:stretch/>
        </p:blipFill>
        <p:spPr>
          <a:xfrm>
            <a:off x="5540760" y="1776240"/>
            <a:ext cx="487080" cy="487080"/>
          </a:xfrm>
          <a:prstGeom prst="rect">
            <a:avLst/>
          </a:prstGeom>
          <a:ln w="0">
            <a:noFill/>
          </a:ln>
        </p:spPr>
      </p:pic>
      <p:pic>
        <p:nvPicPr>
          <p:cNvPr id="124" name="Image 5" descr="preencoded.png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5675040" y="1910160"/>
            <a:ext cx="218880" cy="218880"/>
          </a:xfrm>
          <a:prstGeom prst="rect">
            <a:avLst/>
          </a:prstGeom>
          <a:ln w="0">
            <a:noFill/>
          </a:ln>
        </p:spPr>
      </p:pic>
      <p:sp>
        <p:nvSpPr>
          <p:cNvPr id="125" name="Text 8"/>
          <p:cNvSpPr/>
          <p:nvPr/>
        </p:nvSpPr>
        <p:spPr>
          <a:xfrm>
            <a:off x="5540760" y="2409840"/>
            <a:ext cx="188604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384653"/>
                </a:solidFill>
                <a:latin typeface="Barlow Bold"/>
                <a:ea typeface="Barlow Bold"/>
              </a:rPr>
              <a:t>Hardened Security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9"/>
          <p:cNvSpPr/>
          <p:nvPr/>
        </p:nvSpPr>
        <p:spPr>
          <a:xfrm>
            <a:off x="5540760" y="2823120"/>
            <a:ext cx="1886040" cy="12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84653"/>
                </a:solidFill>
                <a:latin typeface="Montserrat"/>
                <a:ea typeface="Montserrat"/>
              </a:rPr>
              <a:t>2FA, IP &amp; session tracking, forced password change, and a security regression test suite.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10"/>
          <p:cNvSpPr/>
          <p:nvPr/>
        </p:nvSpPr>
        <p:spPr>
          <a:xfrm>
            <a:off x="631800" y="4372920"/>
            <a:ext cx="6963840" cy="1631160"/>
          </a:xfrm>
          <a:prstGeom prst="roundRect">
            <a:avLst>
              <a:gd name="adj" fmla="val 14940"/>
            </a:avLst>
          </a:prstGeom>
          <a:solidFill>
            <a:srgbClr val="d4e9f7"/>
          </a:solidFill>
          <a:ln w="6350">
            <a:solidFill>
              <a:srgbClr val="bac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Image 6" descr="preencoded.png"/>
          <p:cNvPicPr/>
          <p:nvPr/>
        </p:nvPicPr>
        <p:blipFill>
          <a:blip r:embed="rId10"/>
          <a:stretch/>
        </p:blipFill>
        <p:spPr>
          <a:xfrm>
            <a:off x="800640" y="4541760"/>
            <a:ext cx="487080" cy="487080"/>
          </a:xfrm>
          <a:prstGeom prst="rect">
            <a:avLst/>
          </a:prstGeom>
          <a:ln w="0">
            <a:noFill/>
          </a:ln>
        </p:spPr>
      </p:pic>
      <p:pic>
        <p:nvPicPr>
          <p:cNvPr id="129" name="Image 7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934560" y="4675680"/>
            <a:ext cx="218880" cy="218880"/>
          </a:xfrm>
          <a:prstGeom prst="rect">
            <a:avLst/>
          </a:prstGeom>
          <a:ln w="0">
            <a:noFill/>
          </a:ln>
        </p:spPr>
      </p:pic>
      <p:sp>
        <p:nvSpPr>
          <p:cNvPr id="130" name="Text 11"/>
          <p:cNvSpPr/>
          <p:nvPr/>
        </p:nvSpPr>
        <p:spPr>
          <a:xfrm>
            <a:off x="800640" y="5175360"/>
            <a:ext cx="213768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384653"/>
                </a:solidFill>
                <a:latin typeface="Barlow Bold"/>
                <a:ea typeface="Barlow Bold"/>
              </a:rPr>
              <a:t>Full Audit Trail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2"/>
          <p:cNvSpPr/>
          <p:nvPr/>
        </p:nvSpPr>
        <p:spPr>
          <a:xfrm>
            <a:off x="800640" y="5588640"/>
            <a:ext cx="66261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84653"/>
                </a:solidFill>
                <a:latin typeface="Montserrat"/>
                <a:ea typeface="Montserrat"/>
              </a:rPr>
              <a:t>Every create, update, and delete is logged per shop. Nothing is silently destroyed.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2" name="Image 8" descr="preencoded.png"/>
          <p:cNvPicPr/>
          <p:nvPr/>
        </p:nvPicPr>
        <p:blipFill>
          <a:blip r:embed="rId13"/>
          <a:stretch/>
        </p:blipFill>
        <p:spPr>
          <a:xfrm>
            <a:off x="7998840" y="2200680"/>
            <a:ext cx="3209760" cy="3210120"/>
          </a:xfrm>
          <a:prstGeom prst="rect">
            <a:avLst/>
          </a:prstGeom>
          <a:ln w="0">
            <a:noFill/>
          </a:ln>
        </p:spPr>
      </p:pic>
      <p:sp>
        <p:nvSpPr>
          <p:cNvPr id="133" name=""/>
          <p:cNvSpPr/>
          <p:nvPr/>
        </p:nvSpPr>
        <p:spPr>
          <a:xfrm>
            <a:off x="10896840" y="6339600"/>
            <a:ext cx="121896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622080" y="535680"/>
            <a:ext cx="5929920" cy="49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3100" spc="-1" strike="noStrike">
                <a:solidFill>
                  <a:srgbClr val="2e3c4e"/>
                </a:solidFill>
                <a:latin typeface="Barlow Bold"/>
                <a:ea typeface="Barlow Bold"/>
              </a:rPr>
              <a:t>How It Works — 5 Simple Steps</a:t>
            </a:r>
            <a:endParaRPr b="0" lang="en-US" sz="3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1"/>
          <p:cNvSpPr/>
          <p:nvPr/>
        </p:nvSpPr>
        <p:spPr>
          <a:xfrm>
            <a:off x="622080" y="1285200"/>
            <a:ext cx="603720" cy="906120"/>
          </a:xfrm>
          <a:prstGeom prst="roundRect">
            <a:avLst>
              <a:gd name="adj" fmla="val 360026"/>
            </a:avLst>
          </a:prstGeom>
          <a:solidFill>
            <a:srgbClr val="d4e9f7"/>
          </a:solidFill>
          <a:ln w="6350">
            <a:solidFill>
              <a:srgbClr val="bac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810720" y="1596960"/>
            <a:ext cx="2260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384653"/>
                </a:solidFill>
                <a:latin typeface="Barlow Bold"/>
                <a:ea typeface="Barlow Bold"/>
              </a:rPr>
              <a:t>1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3"/>
          <p:cNvSpPr/>
          <p:nvPr/>
        </p:nvSpPr>
        <p:spPr>
          <a:xfrm>
            <a:off x="1352520" y="1436400"/>
            <a:ext cx="198720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384653"/>
                </a:solidFill>
                <a:latin typeface="Barlow Bold"/>
                <a:ea typeface="Barlow Bold"/>
              </a:rPr>
              <a:t>Install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4"/>
          <p:cNvSpPr/>
          <p:nvPr/>
        </p:nvSpPr>
        <p:spPr>
          <a:xfrm>
            <a:off x="1352520" y="1760400"/>
            <a:ext cx="102168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2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84653"/>
                </a:solidFill>
                <a:latin typeface="Montserrat"/>
                <a:ea typeface="Montserrat"/>
              </a:rPr>
              <a:t>One desktop install or open in a browser. Works instantly, online or offline.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5"/>
          <p:cNvSpPr/>
          <p:nvPr/>
        </p:nvSpPr>
        <p:spPr>
          <a:xfrm>
            <a:off x="622080" y="2318040"/>
            <a:ext cx="603720" cy="906120"/>
          </a:xfrm>
          <a:prstGeom prst="roundRect">
            <a:avLst>
              <a:gd name="adj" fmla="val 360026"/>
            </a:avLst>
          </a:prstGeom>
          <a:solidFill>
            <a:srgbClr val="d4e9f7"/>
          </a:solidFill>
          <a:ln w="6350">
            <a:solidFill>
              <a:srgbClr val="bac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810720" y="2629440"/>
            <a:ext cx="2260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384653"/>
                </a:solidFill>
                <a:latin typeface="Barlow Bold"/>
                <a:ea typeface="Barlow Bold"/>
              </a:rPr>
              <a:t>2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7"/>
          <p:cNvSpPr/>
          <p:nvPr/>
        </p:nvSpPr>
        <p:spPr>
          <a:xfrm>
            <a:off x="1352520" y="2468880"/>
            <a:ext cx="198720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384653"/>
                </a:solidFill>
                <a:latin typeface="Barlow Bold"/>
                <a:ea typeface="Barlow Bold"/>
              </a:rPr>
              <a:t>Set Up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8"/>
          <p:cNvSpPr/>
          <p:nvPr/>
        </p:nvSpPr>
        <p:spPr>
          <a:xfrm>
            <a:off x="1352520" y="2793240"/>
            <a:ext cx="102168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2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84653"/>
                </a:solidFill>
                <a:latin typeface="Montserrat"/>
                <a:ea typeface="Montserrat"/>
              </a:rPr>
              <a:t>Add products, customers, and suppliers — or import existing data.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9"/>
          <p:cNvSpPr/>
          <p:nvPr/>
        </p:nvSpPr>
        <p:spPr>
          <a:xfrm>
            <a:off x="622080" y="3350520"/>
            <a:ext cx="603720" cy="906120"/>
          </a:xfrm>
          <a:prstGeom prst="roundRect">
            <a:avLst>
              <a:gd name="adj" fmla="val 360026"/>
            </a:avLst>
          </a:prstGeom>
          <a:solidFill>
            <a:srgbClr val="d4e9f7"/>
          </a:solidFill>
          <a:ln w="6350">
            <a:solidFill>
              <a:srgbClr val="bac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810720" y="3662280"/>
            <a:ext cx="2260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384653"/>
                </a:solidFill>
                <a:latin typeface="Barlow Bold"/>
                <a:ea typeface="Barlow Bold"/>
              </a:rPr>
              <a:t>3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1"/>
          <p:cNvSpPr/>
          <p:nvPr/>
        </p:nvSpPr>
        <p:spPr>
          <a:xfrm>
            <a:off x="1352520" y="3501720"/>
            <a:ext cx="198720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384653"/>
                </a:solidFill>
                <a:latin typeface="Barlow Bold"/>
                <a:ea typeface="Barlow Bold"/>
              </a:rPr>
              <a:t>Sell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1352520" y="3825720"/>
            <a:ext cx="102168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2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84653"/>
                </a:solidFill>
                <a:latin typeface="Montserrat"/>
                <a:ea typeface="Montserrat"/>
              </a:rPr>
              <a:t>Fast counter billing with barcode, UPI QR, and thermal printing.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13"/>
          <p:cNvSpPr/>
          <p:nvPr/>
        </p:nvSpPr>
        <p:spPr>
          <a:xfrm>
            <a:off x="622080" y="4383360"/>
            <a:ext cx="603720" cy="906120"/>
          </a:xfrm>
          <a:prstGeom prst="roundRect">
            <a:avLst>
              <a:gd name="adj" fmla="val 360026"/>
            </a:avLst>
          </a:prstGeom>
          <a:solidFill>
            <a:srgbClr val="d4e9f7"/>
          </a:solidFill>
          <a:ln w="6350">
            <a:solidFill>
              <a:srgbClr val="bac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4"/>
          <p:cNvSpPr/>
          <p:nvPr/>
        </p:nvSpPr>
        <p:spPr>
          <a:xfrm>
            <a:off x="810720" y="4694760"/>
            <a:ext cx="2260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384653"/>
                </a:solidFill>
                <a:latin typeface="Barlow Bold"/>
                <a:ea typeface="Barlow Bold"/>
              </a:rPr>
              <a:t>4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5"/>
          <p:cNvSpPr/>
          <p:nvPr/>
        </p:nvSpPr>
        <p:spPr>
          <a:xfrm>
            <a:off x="1352520" y="4534200"/>
            <a:ext cx="198720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384653"/>
                </a:solidFill>
                <a:latin typeface="Barlow Bold"/>
                <a:ea typeface="Barlow Bold"/>
              </a:rPr>
              <a:t>Manage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16"/>
          <p:cNvSpPr/>
          <p:nvPr/>
        </p:nvSpPr>
        <p:spPr>
          <a:xfrm>
            <a:off x="1352520" y="4858560"/>
            <a:ext cx="102168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2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84653"/>
                </a:solidFill>
                <a:latin typeface="Montserrat"/>
                <a:ea typeface="Montserrat"/>
              </a:rPr>
              <a:t>Stock, suppliers, expenses, staff, and payroll all in one place.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17"/>
          <p:cNvSpPr/>
          <p:nvPr/>
        </p:nvSpPr>
        <p:spPr>
          <a:xfrm>
            <a:off x="622080" y="5415840"/>
            <a:ext cx="603720" cy="906120"/>
          </a:xfrm>
          <a:prstGeom prst="roundRect">
            <a:avLst>
              <a:gd name="adj" fmla="val 360026"/>
            </a:avLst>
          </a:prstGeom>
          <a:solidFill>
            <a:srgbClr val="d4e9f7"/>
          </a:solidFill>
          <a:ln w="6350">
            <a:solidFill>
              <a:srgbClr val="bac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8"/>
          <p:cNvSpPr/>
          <p:nvPr/>
        </p:nvSpPr>
        <p:spPr>
          <a:xfrm>
            <a:off x="810720" y="5727600"/>
            <a:ext cx="2260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384653"/>
                </a:solidFill>
                <a:latin typeface="Barlow Bold"/>
                <a:ea typeface="Barlow Bold"/>
              </a:rPr>
              <a:t>5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19"/>
          <p:cNvSpPr/>
          <p:nvPr/>
        </p:nvSpPr>
        <p:spPr>
          <a:xfrm>
            <a:off x="1352520" y="5567040"/>
            <a:ext cx="198720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384653"/>
                </a:solidFill>
                <a:latin typeface="Barlow Bold"/>
                <a:ea typeface="Barlow Bold"/>
              </a:rPr>
              <a:t>Grow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20"/>
          <p:cNvSpPr/>
          <p:nvPr/>
        </p:nvSpPr>
        <p:spPr>
          <a:xfrm>
            <a:off x="1352520" y="5891040"/>
            <a:ext cx="102168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2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84653"/>
                </a:solidFill>
                <a:latin typeface="Montserrat"/>
                <a:ea typeface="Montserrat"/>
              </a:rPr>
              <a:t>Real-time reports and dashboards turn daily data into better decisions.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10896840" y="6339600"/>
            <a:ext cx="121896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335520" y="287640"/>
            <a:ext cx="379836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2e3c4e"/>
                </a:solidFill>
                <a:latin typeface="Barlow Bold"/>
                <a:ea typeface="Barlow Bold"/>
              </a:rPr>
              <a:t>The Market — Who This Is For</a:t>
            </a:r>
            <a:endParaRPr b="0" lang="en-US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335520" y="753120"/>
            <a:ext cx="379728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83000"/>
              </a:lnSpc>
              <a:tabLst>
                <a:tab algn="l" pos="0"/>
              </a:tabLst>
            </a:pPr>
            <a:r>
              <a:rPr b="1" lang="en-US" sz="2450" spc="-1" strike="noStrike">
                <a:solidFill>
                  <a:srgbClr val="384653"/>
                </a:solidFill>
                <a:latin typeface="Barlow Bold"/>
                <a:ea typeface="Barlow Bold"/>
              </a:rPr>
              <a:t>15M+</a:t>
            </a:r>
            <a:endParaRPr b="0" lang="en-US" sz="2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2"/>
          <p:cNvSpPr/>
          <p:nvPr/>
        </p:nvSpPr>
        <p:spPr>
          <a:xfrm>
            <a:off x="1603440" y="1155600"/>
            <a:ext cx="126180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4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384653"/>
                </a:solidFill>
                <a:latin typeface="Barlow Bold"/>
                <a:ea typeface="Barlow Bold"/>
              </a:rPr>
              <a:t>Independent Retailers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335520" y="1343880"/>
            <a:ext cx="3797280" cy="11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2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384653"/>
                </a:solidFill>
                <a:latin typeface="Montserrat"/>
                <a:ea typeface="Montserrat"/>
              </a:rPr>
              <a:t>Single-counter shops and standalone stores across India.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4196880" y="753120"/>
            <a:ext cx="379728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83000"/>
              </a:lnSpc>
              <a:tabLst>
                <a:tab algn="l" pos="0"/>
              </a:tabLst>
            </a:pPr>
            <a:r>
              <a:rPr b="1" lang="en-US" sz="2450" spc="-1" strike="noStrike">
                <a:solidFill>
                  <a:srgbClr val="384653"/>
                </a:solidFill>
                <a:latin typeface="Barlow Bold"/>
                <a:ea typeface="Barlow Bold"/>
              </a:rPr>
              <a:t>2M+</a:t>
            </a:r>
            <a:endParaRPr b="0" lang="en-US" sz="2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5441760" y="1155600"/>
            <a:ext cx="130788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4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384653"/>
                </a:solidFill>
                <a:latin typeface="Barlow Bold"/>
                <a:ea typeface="Barlow Bold"/>
              </a:rPr>
              <a:t>Growing Retail Stores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4196880" y="1343880"/>
            <a:ext cx="3797280" cy="11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2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384653"/>
                </a:solidFill>
                <a:latin typeface="Montserrat"/>
                <a:ea typeface="Montserrat"/>
              </a:rPr>
              <a:t>Multi-counter stores and supermarkets — our primary focus ⭐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8058240" y="753120"/>
            <a:ext cx="379728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83000"/>
              </a:lnSpc>
              <a:tabLst>
                <a:tab algn="l" pos="0"/>
              </a:tabLst>
            </a:pPr>
            <a:r>
              <a:rPr b="1" lang="en-US" sz="2450" spc="-1" strike="noStrike">
                <a:solidFill>
                  <a:srgbClr val="384653"/>
                </a:solidFill>
                <a:latin typeface="Barlow Bold"/>
                <a:ea typeface="Barlow Bold"/>
              </a:rPr>
              <a:t>5+</a:t>
            </a:r>
            <a:endParaRPr b="0" lang="en-US" sz="2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9326160" y="1155600"/>
            <a:ext cx="126180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4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384653"/>
                </a:solidFill>
                <a:latin typeface="Barlow Bold"/>
                <a:ea typeface="Barlow Bold"/>
              </a:rPr>
              <a:t>Multi-Outlet Chains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9"/>
          <p:cNvSpPr/>
          <p:nvPr/>
        </p:nvSpPr>
        <p:spPr>
          <a:xfrm>
            <a:off x="8058240" y="1343880"/>
            <a:ext cx="3797280" cy="11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2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384653"/>
                </a:solidFill>
                <a:latin typeface="Montserrat"/>
                <a:ea typeface="Montserrat"/>
              </a:rPr>
              <a:t>Regional chains needing centralized control across outlets.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6" name="Image 0" descr="preencoded.png"/>
          <p:cNvPicPr/>
          <p:nvPr/>
        </p:nvPicPr>
        <p:blipFill>
          <a:blip r:embed="rId1"/>
          <a:stretch/>
        </p:blipFill>
        <p:spPr>
          <a:xfrm>
            <a:off x="335520" y="1518840"/>
            <a:ext cx="8737200" cy="4876560"/>
          </a:xfrm>
          <a:prstGeom prst="rect">
            <a:avLst/>
          </a:prstGeom>
          <a:ln w="0">
            <a:noFill/>
          </a:ln>
        </p:spPr>
      </p:pic>
      <p:sp>
        <p:nvSpPr>
          <p:cNvPr id="167" name="Text 10"/>
          <p:cNvSpPr/>
          <p:nvPr/>
        </p:nvSpPr>
        <p:spPr>
          <a:xfrm>
            <a:off x="335520" y="6452640"/>
            <a:ext cx="11855520" cy="11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2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384653"/>
                </a:solidFill>
                <a:latin typeface="Montserrat"/>
                <a:ea typeface="Montserrat"/>
              </a:rPr>
              <a:t>India's retail digitization is accelerating — GST compliance, UPI adoption, and the shift away from paper are powerful tailwinds. The sweet spot: businesses that have outgrown a basic billing app but don't want a heavy, complex ERP.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10896840" y="6339600"/>
            <a:ext cx="121896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/>
          <p:nvPr/>
        </p:nvSpPr>
        <p:spPr>
          <a:xfrm>
            <a:off x="631800" y="691560"/>
            <a:ext cx="53604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3700" spc="-1" strike="noStrike">
                <a:solidFill>
                  <a:srgbClr val="2e3c4e"/>
                </a:solidFill>
                <a:latin typeface="Barlow Bold"/>
                <a:ea typeface="Barlow Bold"/>
              </a:rPr>
              <a:t>How We Compare</a:t>
            </a:r>
            <a:endParaRPr b="0" lang="en-US" sz="3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631800" y="1646640"/>
            <a:ext cx="1153728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Valoryx combines the simplicity of a billing app with the depth of an ERP — without the complexity.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2"/>
          <p:cNvSpPr/>
          <p:nvPr/>
        </p:nvSpPr>
        <p:spPr>
          <a:xfrm>
            <a:off x="631800" y="2138760"/>
            <a:ext cx="10927440" cy="2628360"/>
          </a:xfrm>
          <a:prstGeom prst="roundRect">
            <a:avLst>
              <a:gd name="adj" fmla="val 10302"/>
            </a:avLst>
          </a:prstGeom>
          <a:noFill/>
          <a:ln w="6350">
            <a:solidFill>
              <a:srgbClr val="000000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3"/>
          <p:cNvSpPr/>
          <p:nvPr/>
        </p:nvSpPr>
        <p:spPr>
          <a:xfrm>
            <a:off x="638280" y="2144880"/>
            <a:ext cx="10914840" cy="51768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4"/>
          <p:cNvSpPr/>
          <p:nvPr/>
        </p:nvSpPr>
        <p:spPr>
          <a:xfrm>
            <a:off x="819000" y="2259720"/>
            <a:ext cx="29739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Solution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5"/>
          <p:cNvSpPr/>
          <p:nvPr/>
        </p:nvSpPr>
        <p:spPr>
          <a:xfrm>
            <a:off x="3551040" y="2259720"/>
            <a:ext cx="24249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Online + Offline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6"/>
          <p:cNvSpPr/>
          <p:nvPr/>
        </p:nvSpPr>
        <p:spPr>
          <a:xfrm>
            <a:off x="5734080" y="2259720"/>
            <a:ext cx="24249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All-in-One Suite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7"/>
          <p:cNvSpPr/>
          <p:nvPr/>
        </p:nvSpPr>
        <p:spPr>
          <a:xfrm>
            <a:off x="7916760" y="2259720"/>
            <a:ext cx="406548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Fast &amp; Simple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8"/>
          <p:cNvSpPr/>
          <p:nvPr/>
        </p:nvSpPr>
        <p:spPr>
          <a:xfrm>
            <a:off x="638280" y="2663280"/>
            <a:ext cx="10914840" cy="52416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9"/>
          <p:cNvSpPr/>
          <p:nvPr/>
        </p:nvSpPr>
        <p:spPr>
          <a:xfrm>
            <a:off x="819000" y="2777760"/>
            <a:ext cx="29739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Vyapar / myBillBook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10"/>
          <p:cNvSpPr/>
          <p:nvPr/>
        </p:nvSpPr>
        <p:spPr>
          <a:xfrm>
            <a:off x="3551040" y="2777760"/>
            <a:ext cx="24249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❌ Cloud only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11"/>
          <p:cNvSpPr/>
          <p:nvPr/>
        </p:nvSpPr>
        <p:spPr>
          <a:xfrm>
            <a:off x="5734080" y="2777760"/>
            <a:ext cx="24249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⚠️ Billing only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12"/>
          <p:cNvSpPr/>
          <p:nvPr/>
        </p:nvSpPr>
        <p:spPr>
          <a:xfrm>
            <a:off x="7916760" y="2777760"/>
            <a:ext cx="406548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✅ Simple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13"/>
          <p:cNvSpPr/>
          <p:nvPr/>
        </p:nvSpPr>
        <p:spPr>
          <a:xfrm>
            <a:off x="638280" y="3187440"/>
            <a:ext cx="10914840" cy="52416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4"/>
          <p:cNvSpPr/>
          <p:nvPr/>
        </p:nvSpPr>
        <p:spPr>
          <a:xfrm>
            <a:off x="819000" y="3302280"/>
            <a:ext cx="29739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Marg ERP / Tally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5"/>
          <p:cNvSpPr/>
          <p:nvPr/>
        </p:nvSpPr>
        <p:spPr>
          <a:xfrm>
            <a:off x="3551040" y="3302280"/>
            <a:ext cx="24249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⚠️ Partial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16"/>
          <p:cNvSpPr/>
          <p:nvPr/>
        </p:nvSpPr>
        <p:spPr>
          <a:xfrm>
            <a:off x="5734080" y="3302280"/>
            <a:ext cx="24249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✅ Yes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17"/>
          <p:cNvSpPr/>
          <p:nvPr/>
        </p:nvSpPr>
        <p:spPr>
          <a:xfrm>
            <a:off x="7916760" y="3302280"/>
            <a:ext cx="406548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❌ Complex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18"/>
          <p:cNvSpPr/>
          <p:nvPr/>
        </p:nvSpPr>
        <p:spPr>
          <a:xfrm>
            <a:off x="638280" y="3711960"/>
            <a:ext cx="10914840" cy="52416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19"/>
          <p:cNvSpPr/>
          <p:nvPr/>
        </p:nvSpPr>
        <p:spPr>
          <a:xfrm>
            <a:off x="819000" y="3826800"/>
            <a:ext cx="29739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GoFrugal / Ginesys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20"/>
          <p:cNvSpPr/>
          <p:nvPr/>
        </p:nvSpPr>
        <p:spPr>
          <a:xfrm>
            <a:off x="3551040" y="3826800"/>
            <a:ext cx="24249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⚠️ Partial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21"/>
          <p:cNvSpPr/>
          <p:nvPr/>
        </p:nvSpPr>
        <p:spPr>
          <a:xfrm>
            <a:off x="5734080" y="3826800"/>
            <a:ext cx="24249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✅ Yes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22"/>
          <p:cNvSpPr/>
          <p:nvPr/>
        </p:nvSpPr>
        <p:spPr>
          <a:xfrm>
            <a:off x="7916760" y="3826800"/>
            <a:ext cx="406548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⚠️ Heavy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23"/>
          <p:cNvSpPr/>
          <p:nvPr/>
        </p:nvSpPr>
        <p:spPr>
          <a:xfrm>
            <a:off x="638280" y="4236480"/>
            <a:ext cx="10914840" cy="52416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24"/>
          <p:cNvSpPr/>
          <p:nvPr/>
        </p:nvSpPr>
        <p:spPr>
          <a:xfrm>
            <a:off x="819000" y="4350960"/>
            <a:ext cx="29739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Valoryx </a:t>
            </a:r>
            <a:r>
              <a:rPr b="0" lang="en-US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⭐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25"/>
          <p:cNvSpPr/>
          <p:nvPr/>
        </p:nvSpPr>
        <p:spPr>
          <a:xfrm>
            <a:off x="3551040" y="4350960"/>
            <a:ext cx="24249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✅ Both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26"/>
          <p:cNvSpPr/>
          <p:nvPr/>
        </p:nvSpPr>
        <p:spPr>
          <a:xfrm>
            <a:off x="5734080" y="4350960"/>
            <a:ext cx="24249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✅ Full suite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27"/>
          <p:cNvSpPr/>
          <p:nvPr/>
        </p:nvSpPr>
        <p:spPr>
          <a:xfrm>
            <a:off x="7916760" y="4350960"/>
            <a:ext cx="406548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✅ Fast &amp; easy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28"/>
          <p:cNvSpPr/>
          <p:nvPr/>
        </p:nvSpPr>
        <p:spPr>
          <a:xfrm>
            <a:off x="631800" y="4970520"/>
            <a:ext cx="10927440" cy="992520"/>
          </a:xfrm>
          <a:prstGeom prst="roundRect">
            <a:avLst>
              <a:gd name="adj" fmla="val 27279"/>
            </a:avLst>
          </a:prstGeom>
          <a:solidFill>
            <a:srgbClr val="b6fc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8" name="Image 0" descr="preencoded.png"/>
          <p:cNvPicPr/>
          <p:nvPr/>
        </p:nvPicPr>
        <p:blipFill>
          <a:blip r:embed="rId1"/>
          <a:stretch/>
        </p:blipFill>
        <p:spPr>
          <a:xfrm>
            <a:off x="812520" y="5228640"/>
            <a:ext cx="225360" cy="180000"/>
          </a:xfrm>
          <a:prstGeom prst="rect">
            <a:avLst/>
          </a:prstGeom>
          <a:ln w="0">
            <a:noFill/>
          </a:ln>
        </p:spPr>
      </p:pic>
      <p:sp>
        <p:nvSpPr>
          <p:cNvPr id="199" name="Text 29"/>
          <p:cNvSpPr/>
          <p:nvPr/>
        </p:nvSpPr>
        <p:spPr>
          <a:xfrm>
            <a:off x="1218600" y="5177880"/>
            <a:ext cx="10160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Our edge: works online or offline, bills in 1–20 ms, and one all-in-one suite — billing, stock, transfers, suppliers, staff, and reports.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10896840" y="6339600"/>
            <a:ext cx="121896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" name="Text 0"/>
          <p:cNvSpPr/>
          <p:nvPr/>
        </p:nvSpPr>
        <p:spPr>
          <a:xfrm>
            <a:off x="622080" y="532800"/>
            <a:ext cx="6168240" cy="55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3450" spc="-1" strike="noStrike">
                <a:solidFill>
                  <a:srgbClr val="2e3c4e"/>
                </a:solidFill>
                <a:latin typeface="Barlow Bold"/>
                <a:ea typeface="Barlow Bold"/>
              </a:rPr>
              <a:t>Why Valoryx Wins</a:t>
            </a:r>
            <a:endParaRPr b="0" lang="en-US" sz="34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2" name="Image 0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22080" y="1404000"/>
            <a:ext cx="337320" cy="337320"/>
          </a:xfrm>
          <a:prstGeom prst="rect">
            <a:avLst/>
          </a:prstGeom>
          <a:ln w="0">
            <a:noFill/>
          </a:ln>
        </p:spPr>
      </p:pic>
      <p:sp>
        <p:nvSpPr>
          <p:cNvPr id="93" name="Text 1"/>
          <p:cNvSpPr/>
          <p:nvPr/>
        </p:nvSpPr>
        <p:spPr>
          <a:xfrm>
            <a:off x="622080" y="1938960"/>
            <a:ext cx="222120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384653"/>
                </a:solidFill>
                <a:latin typeface="Barlow Bold"/>
                <a:ea typeface="Barlow Bold"/>
              </a:rPr>
              <a:t>🔌 Online or Offline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622080" y="2311200"/>
            <a:ext cx="5374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4653"/>
                </a:solidFill>
                <a:latin typeface="Montserrat"/>
                <a:ea typeface="Montserrat"/>
              </a:rPr>
              <a:t>Run on the cloud or fully offline — competitors go dark when the internet drops, Valoryx keeps billing.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" name="Image 1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194520" y="1404000"/>
            <a:ext cx="337320" cy="337320"/>
          </a:xfrm>
          <a:prstGeom prst="rect">
            <a:avLst/>
          </a:prstGeom>
          <a:ln w="0">
            <a:noFill/>
          </a:ln>
        </p:spPr>
      </p:pic>
      <p:sp>
        <p:nvSpPr>
          <p:cNvPr id="96" name="Text 3"/>
          <p:cNvSpPr/>
          <p:nvPr/>
        </p:nvSpPr>
        <p:spPr>
          <a:xfrm>
            <a:off x="6194520" y="1938960"/>
            <a:ext cx="222120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384653"/>
                </a:solidFill>
                <a:latin typeface="Barlow Bold"/>
                <a:ea typeface="Barlow Bold"/>
              </a:rPr>
              <a:t>⚡ 10–100× Faster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6194520" y="2311200"/>
            <a:ext cx="5374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4653"/>
                </a:solidFill>
                <a:latin typeface="Montserrat"/>
                <a:ea typeface="Montserrat"/>
              </a:rPr>
              <a:t>1–20 ms response vs 3–9 seconds on always-online apps. The counter never lags.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8" name="Image 2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22080" y="3149640"/>
            <a:ext cx="337320" cy="337320"/>
          </a:xfrm>
          <a:prstGeom prst="rect">
            <a:avLst/>
          </a:prstGeom>
          <a:ln w="0">
            <a:noFill/>
          </a:ln>
        </p:spPr>
      </p:pic>
      <p:sp>
        <p:nvSpPr>
          <p:cNvPr id="99" name="Text 5"/>
          <p:cNvSpPr/>
          <p:nvPr/>
        </p:nvSpPr>
        <p:spPr>
          <a:xfrm>
            <a:off x="622080" y="3684600"/>
            <a:ext cx="222120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384653"/>
                </a:solidFill>
                <a:latin typeface="Barlow Bold"/>
                <a:ea typeface="Barlow Bold"/>
              </a:rPr>
              <a:t>🧩 One App, Not Four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622080" y="4056840"/>
            <a:ext cx="5374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4653"/>
                </a:solidFill>
                <a:latin typeface="Montserrat"/>
                <a:ea typeface="Montserrat"/>
              </a:rPr>
              <a:t>Billing, stock, suppliers, staff, and reports in one system — not stitched-together tools.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1" name="Image 3" descr="preencoded.png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6194520" y="3149640"/>
            <a:ext cx="337320" cy="337320"/>
          </a:xfrm>
          <a:prstGeom prst="rect">
            <a:avLst/>
          </a:prstGeom>
          <a:ln w="0">
            <a:noFill/>
          </a:ln>
        </p:spPr>
      </p:pic>
      <p:sp>
        <p:nvSpPr>
          <p:cNvPr id="102" name="Text 7"/>
          <p:cNvSpPr/>
          <p:nvPr/>
        </p:nvSpPr>
        <p:spPr>
          <a:xfrm>
            <a:off x="6194520" y="3684600"/>
            <a:ext cx="222120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384653"/>
                </a:solidFill>
                <a:latin typeface="Barlow Bold"/>
                <a:ea typeface="Barlow Bold"/>
              </a:rPr>
              <a:t>🏷️ ERP Depth, Shop Price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6194520" y="4056840"/>
            <a:ext cx="5374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4653"/>
                </a:solidFill>
                <a:latin typeface="Montserrat"/>
                <a:ea typeface="Montserrat"/>
              </a:rPr>
              <a:t>Enterprise-grade workflows without the cost, weight, or learning curve of Tally or Marg.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4" name="Image 4" descr="preencoded.png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622080" y="4895280"/>
            <a:ext cx="337320" cy="337320"/>
          </a:xfrm>
          <a:prstGeom prst="rect">
            <a:avLst/>
          </a:prstGeom>
          <a:ln w="0">
            <a:noFill/>
          </a:ln>
        </p:spPr>
      </p:pic>
      <p:sp>
        <p:nvSpPr>
          <p:cNvPr id="105" name="Text 9"/>
          <p:cNvSpPr/>
          <p:nvPr/>
        </p:nvSpPr>
        <p:spPr>
          <a:xfrm>
            <a:off x="622080" y="5430240"/>
            <a:ext cx="222120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384653"/>
                </a:solidFill>
                <a:latin typeface="Barlow Bold"/>
                <a:ea typeface="Barlow Bold"/>
              </a:rPr>
              <a:t>🔄 Multi-Branch &amp; Transfers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0"/>
          <p:cNvSpPr/>
          <p:nvPr/>
        </p:nvSpPr>
        <p:spPr>
          <a:xfrm>
            <a:off x="622080" y="5802480"/>
            <a:ext cx="5374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4653"/>
                </a:solidFill>
                <a:latin typeface="Montserrat"/>
                <a:ea typeface="Montserrat"/>
              </a:rPr>
              <a:t>Move stock between branches with approval and in-transit tracking — built for multi-outlet businesses.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7" name="Image 5" descr="preencoded.png"/>
          <p:cNvPicPr/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6194520" y="4895280"/>
            <a:ext cx="337320" cy="337320"/>
          </a:xfrm>
          <a:prstGeom prst="rect">
            <a:avLst/>
          </a:prstGeom>
          <a:ln w="0">
            <a:noFill/>
          </a:ln>
        </p:spPr>
      </p:pic>
      <p:sp>
        <p:nvSpPr>
          <p:cNvPr id="108" name="Text 11"/>
          <p:cNvSpPr/>
          <p:nvPr/>
        </p:nvSpPr>
        <p:spPr>
          <a:xfrm>
            <a:off x="6194520" y="5430240"/>
            <a:ext cx="222120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384653"/>
                </a:solidFill>
                <a:latin typeface="Barlow Bold"/>
                <a:ea typeface="Barlow Bold"/>
              </a:rPr>
              <a:t>🔒 Trust Built-In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6194520" y="5802480"/>
            <a:ext cx="537480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84653"/>
                </a:solidFill>
                <a:latin typeface="Montserrat"/>
                <a:ea typeface="Montserrat"/>
              </a:rPr>
              <a:t>Full audit trail, role-based permissions, and 2FA — secure out of the box.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10896840" y="6339600"/>
            <a:ext cx="121896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0"/>
          <p:cNvSpPr/>
          <p:nvPr/>
        </p:nvSpPr>
        <p:spPr>
          <a:xfrm>
            <a:off x="631800" y="509400"/>
            <a:ext cx="5079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2950" spc="-1" strike="noStrike">
                <a:solidFill>
                  <a:srgbClr val="2e3c4e"/>
                </a:solidFill>
                <a:latin typeface="Barlow Bold"/>
                <a:ea typeface="Barlow Bold"/>
              </a:rPr>
              <a:t>The Value to Your Business</a:t>
            </a:r>
            <a:endParaRPr b="0" lang="en-US" sz="2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2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31800" y="1215720"/>
            <a:ext cx="10927440" cy="866160"/>
          </a:xfrm>
          <a:prstGeom prst="rect">
            <a:avLst/>
          </a:prstGeom>
          <a:ln w="0">
            <a:noFill/>
          </a:ln>
        </p:spPr>
      </p:pic>
      <p:sp>
        <p:nvSpPr>
          <p:cNvPr id="203" name="Text 1"/>
          <p:cNvSpPr/>
          <p:nvPr/>
        </p:nvSpPr>
        <p:spPr>
          <a:xfrm>
            <a:off x="1344240" y="1379160"/>
            <a:ext cx="1900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0000"/>
                </a:solidFill>
                <a:latin typeface="Barlow Bold"/>
                <a:ea typeface="Barlow Bold"/>
              </a:rPr>
              <a:t>💰 Stop Losing Sales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2"/>
          <p:cNvSpPr/>
          <p:nvPr/>
        </p:nvSpPr>
        <p:spPr>
          <a:xfrm>
            <a:off x="1344240" y="1692360"/>
            <a:ext cx="100519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84653"/>
                </a:solidFill>
                <a:latin typeface="Montserrat"/>
                <a:ea typeface="Montserrat"/>
              </a:rPr>
              <a:t>The counter never goes down — even during an internet outage, every customer still gets billed.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5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31800" y="2197800"/>
            <a:ext cx="10927440" cy="866160"/>
          </a:xfrm>
          <a:prstGeom prst="rect">
            <a:avLst/>
          </a:prstGeom>
          <a:ln w="0">
            <a:noFill/>
          </a:ln>
        </p:spPr>
      </p:pic>
      <p:sp>
        <p:nvSpPr>
          <p:cNvPr id="206" name="Text 3"/>
          <p:cNvSpPr/>
          <p:nvPr/>
        </p:nvSpPr>
        <p:spPr>
          <a:xfrm>
            <a:off x="1344240" y="2361240"/>
            <a:ext cx="1902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0000"/>
                </a:solidFill>
                <a:latin typeface="Barlow Bold"/>
                <a:ea typeface="Barlow Bold"/>
              </a:rPr>
              <a:t>📊 Numbers You Can Trust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4"/>
          <p:cNvSpPr/>
          <p:nvPr/>
        </p:nvSpPr>
        <p:spPr>
          <a:xfrm>
            <a:off x="1344240" y="2674440"/>
            <a:ext cx="100519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84653"/>
                </a:solidFill>
                <a:latin typeface="Montserrat"/>
                <a:ea typeface="Montserrat"/>
              </a:rPr>
              <a:t>Returns, pending payments, and expenses all flow into true, accurate month-end profit.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8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31800" y="3179880"/>
            <a:ext cx="10927440" cy="866160"/>
          </a:xfrm>
          <a:prstGeom prst="rect">
            <a:avLst/>
          </a:prstGeom>
          <a:ln w="0">
            <a:noFill/>
          </a:ln>
        </p:spPr>
      </p:pic>
      <p:sp>
        <p:nvSpPr>
          <p:cNvPr id="209" name="Text 5"/>
          <p:cNvSpPr/>
          <p:nvPr/>
        </p:nvSpPr>
        <p:spPr>
          <a:xfrm>
            <a:off x="1344240" y="3343320"/>
            <a:ext cx="2304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0000"/>
                </a:solidFill>
                <a:latin typeface="Barlow Bold"/>
                <a:ea typeface="Barlow Bold"/>
              </a:rPr>
              <a:t>⏱️ Less Manual Work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6"/>
          <p:cNvSpPr/>
          <p:nvPr/>
        </p:nvSpPr>
        <p:spPr>
          <a:xfrm>
            <a:off x="1344240" y="3656520"/>
            <a:ext cx="100519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84653"/>
                </a:solidFill>
                <a:latin typeface="Montserrat"/>
                <a:ea typeface="Montserrat"/>
              </a:rPr>
              <a:t>No more paper or Excel reconciliation — one system runs billing, stock, staff, and suppliers.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1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31800" y="4161960"/>
            <a:ext cx="10927440" cy="866160"/>
          </a:xfrm>
          <a:prstGeom prst="rect">
            <a:avLst/>
          </a:prstGeom>
          <a:ln w="0">
            <a:noFill/>
          </a:ln>
        </p:spPr>
      </p:pic>
      <p:sp>
        <p:nvSpPr>
          <p:cNvPr id="212" name="Text 7"/>
          <p:cNvSpPr/>
          <p:nvPr/>
        </p:nvSpPr>
        <p:spPr>
          <a:xfrm>
            <a:off x="1344240" y="4325400"/>
            <a:ext cx="2422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0000"/>
                </a:solidFill>
                <a:latin typeface="Barlow Bold"/>
                <a:ea typeface="Barlow Bold"/>
              </a:rPr>
              <a:t>🛡️ Lower Risk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1344240" y="4638600"/>
            <a:ext cx="100519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84653"/>
                </a:solidFill>
                <a:latin typeface="Montserrat"/>
                <a:ea typeface="Montserrat"/>
              </a:rPr>
              <a:t>A full audit trail and role-based permissions protect against theft and costly mistakes.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4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631800" y="5144040"/>
            <a:ext cx="10927440" cy="866160"/>
          </a:xfrm>
          <a:prstGeom prst="rect">
            <a:avLst/>
          </a:prstGeom>
          <a:ln w="0">
            <a:noFill/>
          </a:ln>
        </p:spPr>
      </p:pic>
      <p:sp>
        <p:nvSpPr>
          <p:cNvPr id="215" name="Text 9"/>
          <p:cNvSpPr/>
          <p:nvPr/>
        </p:nvSpPr>
        <p:spPr>
          <a:xfrm>
            <a:off x="1344240" y="5307480"/>
            <a:ext cx="1900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000000"/>
                </a:solidFill>
                <a:latin typeface="Barlow Bold"/>
                <a:ea typeface="Barlow Bold"/>
              </a:rPr>
              <a:t>📈 Scales With You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1344240" y="5620680"/>
            <a:ext cx="1005192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84653"/>
                </a:solidFill>
                <a:latin typeface="Montserrat"/>
                <a:ea typeface="Montserrat"/>
              </a:rPr>
              <a:t>Start with one counter and grow to multiple outlets — all on the same system.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11"/>
          <p:cNvSpPr/>
          <p:nvPr/>
        </p:nvSpPr>
        <p:spPr>
          <a:xfrm>
            <a:off x="631800" y="6140520"/>
            <a:ext cx="1153728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84653"/>
                </a:solidFill>
                <a:latin typeface="Montserrat"/>
                <a:ea typeface="Montserrat"/>
              </a:rPr>
              <a:t>From a single counter to a multi-outlet chain, Valoryx grows with your business — not against it.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10896840" y="6339600"/>
            <a:ext cx="121896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5" name="Text 0"/>
          <p:cNvSpPr/>
          <p:nvPr/>
        </p:nvSpPr>
        <p:spPr>
          <a:xfrm>
            <a:off x="631800" y="507960"/>
            <a:ext cx="53604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3700" spc="-1" strike="noStrike">
                <a:solidFill>
                  <a:srgbClr val="2e3c4e"/>
                </a:solidFill>
                <a:latin typeface="Barlow Bold"/>
                <a:ea typeface="Barlow Bold"/>
              </a:rPr>
              <a:t>Our Roadmap — Path to 200 Customers</a:t>
            </a:r>
            <a:endParaRPr b="0" lang="en-US" sz="3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631800" y="1462680"/>
            <a:ext cx="1153728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A phased go-to-market plan, from first pilots to 200 paying shops.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" name="Image 0" descr="preencoded.png"/>
          <p:cNvPicPr/>
          <p:nvPr/>
        </p:nvPicPr>
        <p:blipFill>
          <a:blip r:embed="rId2"/>
          <a:stretch/>
        </p:blipFill>
        <p:spPr>
          <a:xfrm>
            <a:off x="631800" y="2383200"/>
            <a:ext cx="3538080" cy="3538080"/>
          </a:xfrm>
          <a:prstGeom prst="rect">
            <a:avLst/>
          </a:prstGeom>
          <a:ln w="0">
            <a:noFill/>
          </a:ln>
        </p:spPr>
      </p:pic>
      <p:pic>
        <p:nvPicPr>
          <p:cNvPr id="78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91800" y="2157840"/>
            <a:ext cx="3409200" cy="1755360"/>
          </a:xfrm>
          <a:prstGeom prst="rect">
            <a:avLst/>
          </a:prstGeom>
          <a:ln w="0">
            <a:noFill/>
          </a:ln>
        </p:spPr>
      </p:pic>
      <p:sp>
        <p:nvSpPr>
          <p:cNvPr id="79" name="Text 2"/>
          <p:cNvSpPr/>
          <p:nvPr/>
        </p:nvSpPr>
        <p:spPr>
          <a:xfrm>
            <a:off x="4899240" y="2363760"/>
            <a:ext cx="237528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384653"/>
                </a:solidFill>
                <a:latin typeface="Barlow Bold"/>
                <a:ea typeface="Barlow Bold"/>
              </a:rPr>
              <a:t>Phase 1 · Validate (Now)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4899240" y="2841120"/>
            <a:ext cx="289584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5 pilot shops at 50% off — collect testimonials and real case studies.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1" name="Image 2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156520" y="2157840"/>
            <a:ext cx="3409200" cy="1755360"/>
          </a:xfrm>
          <a:prstGeom prst="rect">
            <a:avLst/>
          </a:prstGeom>
          <a:ln w="0">
            <a:noFill/>
          </a:ln>
        </p:spPr>
      </p:pic>
      <p:sp>
        <p:nvSpPr>
          <p:cNvPr id="82" name="Text 4"/>
          <p:cNvSpPr/>
          <p:nvPr/>
        </p:nvSpPr>
        <p:spPr>
          <a:xfrm>
            <a:off x="8463960" y="2363760"/>
            <a:ext cx="270216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384653"/>
                </a:solidFill>
                <a:latin typeface="Barlow Bold"/>
                <a:ea typeface="Barlow Bold"/>
              </a:rPr>
              <a:t>Phase 2 · Soft Launch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8463960" y="2841120"/>
            <a:ext cx="289584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Free tier goes live; direct outreach to 100 shops across 2 cities.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4" name="Image 3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591800" y="4094280"/>
            <a:ext cx="3409200" cy="2052360"/>
          </a:xfrm>
          <a:prstGeom prst="rect">
            <a:avLst/>
          </a:prstGeom>
          <a:ln w="0">
            <a:noFill/>
          </a:ln>
        </p:spPr>
      </p:pic>
      <p:sp>
        <p:nvSpPr>
          <p:cNvPr id="85" name="Text 6"/>
          <p:cNvSpPr/>
          <p:nvPr/>
        </p:nvSpPr>
        <p:spPr>
          <a:xfrm>
            <a:off x="4899240" y="4300200"/>
            <a:ext cx="237528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384653"/>
                </a:solidFill>
                <a:latin typeface="Barlow Bold"/>
                <a:ea typeface="Barlow Bold"/>
              </a:rPr>
              <a:t>Phase 3 · Scale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4899240" y="4777560"/>
            <a:ext cx="289584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Full pricing, field sales, and referrals → 200 paying customers in 6 months.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7" name="Image 4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156520" y="4094280"/>
            <a:ext cx="3409200" cy="2052360"/>
          </a:xfrm>
          <a:prstGeom prst="rect">
            <a:avLst/>
          </a:prstGeom>
          <a:ln w="0">
            <a:noFill/>
          </a:ln>
        </p:spPr>
      </p:pic>
      <p:sp>
        <p:nvSpPr>
          <p:cNvPr id="88" name="Text 8"/>
          <p:cNvSpPr/>
          <p:nvPr/>
        </p:nvSpPr>
        <p:spPr>
          <a:xfrm>
            <a:off x="8463960" y="4300200"/>
            <a:ext cx="28958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384653"/>
                </a:solidFill>
                <a:latin typeface="Barlow Bold"/>
                <a:ea typeface="Barlow Bold"/>
              </a:rPr>
              <a:t>Next · Product Roadmap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8463960" y="5074200"/>
            <a:ext cx="289584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Deeper multi-outlet analytics, e-way bill support, and a polished mobile app.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0896840" y="6339600"/>
            <a:ext cx="121896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Image 0" descr="preencoded.png"/>
          <p:cNvPicPr/>
          <p:nvPr/>
        </p:nvPicPr>
        <p:blipFill>
          <a:blip r:embed="rId1"/>
          <a:stretch/>
        </p:blipFill>
        <p:spPr>
          <a:xfrm>
            <a:off x="7391160" y="0"/>
            <a:ext cx="4800240" cy="6857640"/>
          </a:xfrm>
          <a:prstGeom prst="rect">
            <a:avLst/>
          </a:prstGeom>
          <a:ln w="0">
            <a:noFill/>
          </a:ln>
        </p:spPr>
      </p:pic>
      <p:sp>
        <p:nvSpPr>
          <p:cNvPr id="220" name="Text 0"/>
          <p:cNvSpPr/>
          <p:nvPr/>
        </p:nvSpPr>
        <p:spPr>
          <a:xfrm>
            <a:off x="602280" y="529920"/>
            <a:ext cx="4518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2e3c4e"/>
                </a:solidFill>
                <a:latin typeface="Barlow Bold"/>
                <a:ea typeface="Barlow Bold"/>
              </a:rPr>
              <a:t>Valoryx at a Glance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1724760" y="1057680"/>
            <a:ext cx="41695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83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384653"/>
                </a:solidFill>
                <a:latin typeface="Barlow Bold"/>
                <a:ea typeface="Barlow Bold"/>
              </a:rPr>
              <a:t>1–20 ms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2"/>
          <p:cNvSpPr/>
          <p:nvPr/>
        </p:nvSpPr>
        <p:spPr>
          <a:xfrm>
            <a:off x="3074040" y="1534680"/>
            <a:ext cx="147132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4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84653"/>
                </a:solidFill>
                <a:latin typeface="Barlow Bold"/>
                <a:ea typeface="Barlow Bold"/>
              </a:rPr>
              <a:t>Billing Speed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3"/>
          <p:cNvSpPr/>
          <p:nvPr/>
        </p:nvSpPr>
        <p:spPr>
          <a:xfrm>
            <a:off x="602280" y="1760040"/>
            <a:ext cx="641484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8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84653"/>
                </a:solidFill>
                <a:latin typeface="Montserrat"/>
                <a:ea typeface="Montserrat"/>
              </a:rPr>
              <a:t>Every bill saves instantly — even fully offline.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4"/>
          <p:cNvSpPr/>
          <p:nvPr/>
        </p:nvSpPr>
        <p:spPr>
          <a:xfrm>
            <a:off x="1724760" y="2099160"/>
            <a:ext cx="41695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83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384653"/>
                </a:solidFill>
                <a:latin typeface="Barlow Bold"/>
                <a:ea typeface="Barlow Bold"/>
              </a:rPr>
              <a:t>100%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5"/>
          <p:cNvSpPr/>
          <p:nvPr/>
        </p:nvSpPr>
        <p:spPr>
          <a:xfrm>
            <a:off x="3074040" y="2576160"/>
            <a:ext cx="147132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4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84653"/>
                </a:solidFill>
                <a:latin typeface="Barlow Bold"/>
                <a:ea typeface="Barlow Bold"/>
              </a:rPr>
              <a:t>Works Offline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6"/>
          <p:cNvSpPr/>
          <p:nvPr/>
        </p:nvSpPr>
        <p:spPr>
          <a:xfrm>
            <a:off x="602280" y="2801520"/>
            <a:ext cx="641484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8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84653"/>
                </a:solidFill>
                <a:latin typeface="Montserrat"/>
                <a:ea typeface="Montserrat"/>
              </a:rPr>
              <a:t>Keep selling with no internet; data syncs automatically.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7"/>
          <p:cNvSpPr/>
          <p:nvPr/>
        </p:nvSpPr>
        <p:spPr>
          <a:xfrm>
            <a:off x="1724760" y="3140640"/>
            <a:ext cx="41695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83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384653"/>
                </a:solidFill>
                <a:latin typeface="Barlow Bold"/>
                <a:ea typeface="Barlow Bold"/>
              </a:rPr>
              <a:t>8+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8"/>
          <p:cNvSpPr/>
          <p:nvPr/>
        </p:nvSpPr>
        <p:spPr>
          <a:xfrm>
            <a:off x="3074040" y="3617640"/>
            <a:ext cx="147132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4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84653"/>
                </a:solidFill>
                <a:latin typeface="Barlow Bold"/>
                <a:ea typeface="Barlow Bold"/>
              </a:rPr>
              <a:t>All-in-One Modules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9"/>
          <p:cNvSpPr/>
          <p:nvPr/>
        </p:nvSpPr>
        <p:spPr>
          <a:xfrm>
            <a:off x="602280" y="3843000"/>
            <a:ext cx="641484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8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84653"/>
                </a:solidFill>
                <a:latin typeface="Montserrat"/>
                <a:ea typeface="Montserrat"/>
              </a:rPr>
              <a:t>Billing, stock, transfers, suppliers, staff, reports &amp; more.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10"/>
          <p:cNvSpPr/>
          <p:nvPr/>
        </p:nvSpPr>
        <p:spPr>
          <a:xfrm>
            <a:off x="1724760" y="4182120"/>
            <a:ext cx="41695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83000"/>
              </a:lnSpc>
              <a:tabLst>
                <a:tab algn="l" pos="0"/>
              </a:tabLst>
            </a:pPr>
            <a:r>
              <a:rPr b="1" lang="en-US" sz="2900" spc="-1" strike="noStrike">
                <a:solidFill>
                  <a:srgbClr val="384653"/>
                </a:solidFill>
                <a:latin typeface="Barlow Bold"/>
                <a:ea typeface="Barlow Bold"/>
              </a:rPr>
              <a:t>14 days</a:t>
            </a:r>
            <a:endParaRPr b="0" lang="en-US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11"/>
          <p:cNvSpPr/>
          <p:nvPr/>
        </p:nvSpPr>
        <p:spPr>
          <a:xfrm>
            <a:off x="3074040" y="4659120"/>
            <a:ext cx="147132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4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84653"/>
                </a:solidFill>
                <a:latin typeface="Barlow Bold"/>
                <a:ea typeface="Barlow Bold"/>
              </a:rPr>
              <a:t>Free Trial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12"/>
          <p:cNvSpPr/>
          <p:nvPr/>
        </p:nvSpPr>
        <p:spPr>
          <a:xfrm>
            <a:off x="602280" y="4884480"/>
            <a:ext cx="641484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8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84653"/>
                </a:solidFill>
                <a:latin typeface="Montserrat"/>
                <a:ea typeface="Montserrat"/>
              </a:rPr>
              <a:t>Try every feature free — no card required.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13"/>
          <p:cNvSpPr/>
          <p:nvPr/>
        </p:nvSpPr>
        <p:spPr>
          <a:xfrm>
            <a:off x="602280" y="5107320"/>
            <a:ext cx="641484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8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84653"/>
                </a:solidFill>
                <a:latin typeface="Montserrat"/>
                <a:ea typeface="Montserrat"/>
              </a:rPr>
              <a:t>One app to run your entire shop — fast, offline-ready, and built for Indian retail. See it live at your counter.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14"/>
          <p:cNvSpPr/>
          <p:nvPr/>
        </p:nvSpPr>
        <p:spPr>
          <a:xfrm>
            <a:off x="602280" y="5474880"/>
            <a:ext cx="6414840" cy="852840"/>
          </a:xfrm>
          <a:prstGeom prst="roundRect">
            <a:avLst>
              <a:gd name="adj" fmla="val 19668"/>
            </a:avLst>
          </a:prstGeom>
          <a:solidFill>
            <a:srgbClr val="d4e9f7"/>
          </a:solidFill>
          <a:ln w="6350">
            <a:solidFill>
              <a:srgbClr val="bac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5"/>
          <p:cNvSpPr/>
          <p:nvPr/>
        </p:nvSpPr>
        <p:spPr>
          <a:xfrm>
            <a:off x="608760" y="5481000"/>
            <a:ext cx="3201120" cy="419760"/>
          </a:xfrm>
          <a:prstGeom prst="roundRect">
            <a:avLst>
              <a:gd name="adj" fmla="val 39930"/>
            </a:avLst>
          </a:prstGeom>
          <a:solidFill>
            <a:srgbClr val="d4e9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6"/>
          <p:cNvSpPr/>
          <p:nvPr/>
        </p:nvSpPr>
        <p:spPr>
          <a:xfrm>
            <a:off x="720360" y="5592960"/>
            <a:ext cx="147132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00000"/>
                </a:solidFill>
                <a:latin typeface="Barlow Bold"/>
                <a:ea typeface="Barlow Bold"/>
              </a:rPr>
              <a:t>🌐 valoryx.ryxtech.in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17"/>
          <p:cNvSpPr/>
          <p:nvPr/>
        </p:nvSpPr>
        <p:spPr>
          <a:xfrm>
            <a:off x="3809880" y="5481000"/>
            <a:ext cx="3201120" cy="419760"/>
          </a:xfrm>
          <a:prstGeom prst="rect">
            <a:avLst/>
          </a:prstGeom>
          <a:solidFill>
            <a:srgbClr val="d4e9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8"/>
          <p:cNvSpPr/>
          <p:nvPr/>
        </p:nvSpPr>
        <p:spPr>
          <a:xfrm>
            <a:off x="3809880" y="5481000"/>
            <a:ext cx="12240" cy="419760"/>
          </a:xfrm>
          <a:prstGeom prst="roundRect">
            <a:avLst>
              <a:gd name="adj" fmla="val 1321119"/>
            </a:avLst>
          </a:prstGeom>
          <a:solidFill>
            <a:srgbClr val="bacf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19"/>
          <p:cNvSpPr/>
          <p:nvPr/>
        </p:nvSpPr>
        <p:spPr>
          <a:xfrm>
            <a:off x="3921840" y="5592960"/>
            <a:ext cx="147132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00000"/>
                </a:solidFill>
                <a:latin typeface="Barlow Bold"/>
                <a:ea typeface="Barlow Bold"/>
              </a:rPr>
              <a:t>📧 ryxtechie@gmail.com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Shape 20"/>
          <p:cNvSpPr/>
          <p:nvPr/>
        </p:nvSpPr>
        <p:spPr>
          <a:xfrm>
            <a:off x="608760" y="5901480"/>
            <a:ext cx="6402240" cy="419760"/>
          </a:xfrm>
          <a:prstGeom prst="rect">
            <a:avLst/>
          </a:prstGeom>
          <a:solidFill>
            <a:srgbClr val="d4e9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1"/>
          <p:cNvSpPr/>
          <p:nvPr/>
        </p:nvSpPr>
        <p:spPr>
          <a:xfrm>
            <a:off x="608760" y="5901480"/>
            <a:ext cx="6402240" cy="12240"/>
          </a:xfrm>
          <a:prstGeom prst="roundRect">
            <a:avLst>
              <a:gd name="adj" fmla="val 1321119"/>
            </a:avLst>
          </a:prstGeom>
          <a:solidFill>
            <a:srgbClr val="bacf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360" bIns="-36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2"/>
          <p:cNvSpPr/>
          <p:nvPr/>
        </p:nvSpPr>
        <p:spPr>
          <a:xfrm>
            <a:off x="720360" y="6013080"/>
            <a:ext cx="22413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00000"/>
                </a:solidFill>
                <a:latin typeface="Barlow Bold"/>
                <a:ea typeface="Barlow Bold"/>
              </a:rPr>
              <a:t>🚀 14-day free trial — start today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5" name="Text 0"/>
          <p:cNvSpPr/>
          <p:nvPr/>
        </p:nvSpPr>
        <p:spPr>
          <a:xfrm>
            <a:off x="631800" y="507960"/>
            <a:ext cx="53604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3700" spc="-1" strike="noStrike">
                <a:solidFill>
                  <a:srgbClr val="2e3c4e"/>
                </a:solidFill>
                <a:latin typeface="Barlow Bold"/>
                <a:ea typeface="Barlow Bold"/>
              </a:rPr>
              <a:t>See Valoryx at Your Counter</a:t>
            </a:r>
            <a:endParaRPr b="0" lang="en-US" sz="3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631800" y="1462680"/>
            <a:ext cx="1153728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Book a free live demo and run a real day on Valoryx — no commitment, no risk.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" name="Image 0" descr="preencoded.png"/>
          <p:cNvPicPr/>
          <p:nvPr/>
        </p:nvPicPr>
        <p:blipFill>
          <a:blip r:embed="rId2"/>
          <a:stretch/>
        </p:blipFill>
        <p:spPr>
          <a:xfrm>
            <a:off x="631800" y="2383200"/>
            <a:ext cx="3538080" cy="3538080"/>
          </a:xfrm>
          <a:prstGeom prst="rect">
            <a:avLst/>
          </a:prstGeom>
          <a:ln w="0">
            <a:noFill/>
          </a:ln>
        </p:spPr>
      </p:pic>
      <p:pic>
        <p:nvPicPr>
          <p:cNvPr id="78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91800" y="2157840"/>
            <a:ext cx="3409200" cy="1755360"/>
          </a:xfrm>
          <a:prstGeom prst="rect">
            <a:avLst/>
          </a:prstGeom>
          <a:ln w="0">
            <a:noFill/>
          </a:ln>
        </p:spPr>
      </p:pic>
      <p:sp>
        <p:nvSpPr>
          <p:cNvPr id="79" name="Text 2"/>
          <p:cNvSpPr/>
          <p:nvPr/>
        </p:nvSpPr>
        <p:spPr>
          <a:xfrm>
            <a:off x="4899240" y="2363760"/>
            <a:ext cx="237528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384653"/>
                </a:solidFill>
                <a:latin typeface="Barlow Bold"/>
                <a:ea typeface="Barlow Bold"/>
              </a:rPr>
              <a:t>📅 Book a Demo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4899240" y="2841120"/>
            <a:ext cx="289584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A 20-minute walkthrough using your own products and counter flow.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1" name="Image 2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156520" y="2157840"/>
            <a:ext cx="3409200" cy="1755360"/>
          </a:xfrm>
          <a:prstGeom prst="rect">
            <a:avLst/>
          </a:prstGeom>
          <a:ln w="0">
            <a:noFill/>
          </a:ln>
        </p:spPr>
      </p:pic>
      <p:sp>
        <p:nvSpPr>
          <p:cNvPr id="82" name="Text 4"/>
          <p:cNvSpPr/>
          <p:nvPr/>
        </p:nvSpPr>
        <p:spPr>
          <a:xfrm>
            <a:off x="8463960" y="2363760"/>
            <a:ext cx="270216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384653"/>
                </a:solidFill>
                <a:latin typeface="Barlow Bold"/>
                <a:ea typeface="Barlow Bold"/>
              </a:rPr>
              <a:t>🎁 Free Pilot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8463960" y="2841120"/>
            <a:ext cx="289584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Join the Phase-1 pilot — 5 shops live now at 50% off the first year.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4" name="Image 3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591800" y="4094280"/>
            <a:ext cx="3409200" cy="2052360"/>
          </a:xfrm>
          <a:prstGeom prst="rect">
            <a:avLst/>
          </a:prstGeom>
          <a:ln w="0">
            <a:noFill/>
          </a:ln>
        </p:spPr>
      </p:pic>
      <p:sp>
        <p:nvSpPr>
          <p:cNvPr id="85" name="Text 6"/>
          <p:cNvSpPr/>
          <p:nvPr/>
        </p:nvSpPr>
        <p:spPr>
          <a:xfrm>
            <a:off x="4899240" y="4300200"/>
            <a:ext cx="237528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384653"/>
                </a:solidFill>
                <a:latin typeface="Barlow Bold"/>
                <a:ea typeface="Barlow Bold"/>
              </a:rPr>
              <a:t>🤝 Setup &amp; Training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4899240" y="4777560"/>
            <a:ext cx="289584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We install Valoryx and train your staff right at your shop.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7" name="Image 4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156520" y="4094280"/>
            <a:ext cx="3409200" cy="2052360"/>
          </a:xfrm>
          <a:prstGeom prst="rect">
            <a:avLst/>
          </a:prstGeom>
          <a:ln w="0">
            <a:noFill/>
          </a:ln>
        </p:spPr>
      </p:pic>
      <p:sp>
        <p:nvSpPr>
          <p:cNvPr id="88" name="Text 8"/>
          <p:cNvSpPr/>
          <p:nvPr/>
        </p:nvSpPr>
        <p:spPr>
          <a:xfrm>
            <a:off x="8463960" y="4300200"/>
            <a:ext cx="28958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4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384653"/>
                </a:solidFill>
                <a:latin typeface="Barlow Bold"/>
                <a:ea typeface="Barlow Bold"/>
              </a:rPr>
              <a:t>📞 Get in Touch</a:t>
            </a:r>
            <a:endParaRPr b="0" lang="en-US" sz="1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8463960" y="5074200"/>
            <a:ext cx="289584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84653"/>
                </a:solidFill>
                <a:latin typeface="Montserrat"/>
                <a:ea typeface="Montserrat"/>
              </a:rPr>
              <a:t>valoryx.ryxtech.in   ·   ryxtechie@gmail.com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0896840" y="6339600"/>
            <a:ext cx="121896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2026-06-05T07:03:05Z</dcterms:created>
  <dc:creator/>
  <dc:description/>
  <dc:language>en-US</dc:language>
  <cp:lastModifiedBy/>
  <dcterms:modified xsi:type="dcterms:W3CDTF">2026-06-05T12:37:27Z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